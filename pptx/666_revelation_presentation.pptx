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68" r:id="rId2"/>
    <p:sldId id="256" r:id="rId3"/>
    <p:sldId id="269" r:id="rId4"/>
    <p:sldId id="257" r:id="rId5"/>
    <p:sldId id="258" r:id="rId6"/>
    <p:sldId id="259" r:id="rId7"/>
    <p:sldId id="260" r:id="rId8"/>
    <p:sldId id="261" r:id="rId9"/>
    <p:sldId id="262" r:id="rId10"/>
    <p:sldId id="263" r:id="rId11"/>
    <p:sldId id="264" r:id="rId12"/>
    <p:sldId id="265" r:id="rId13"/>
    <p:sldId id="266" r:id="rId14"/>
    <p:sldId id="26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38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2793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459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8168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9111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8963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893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97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39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987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6179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24535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2902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7875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2617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89091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7181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3338725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9E4D75-D118-40FB-8B62-A3FBCB2154E2}"/>
              </a:ext>
            </a:extLst>
          </p:cNvPr>
          <p:cNvSpPr>
            <a:spLocks noGrp="1"/>
          </p:cNvSpPr>
          <p:nvPr>
            <p:ph type="ctrTitle"/>
          </p:nvPr>
        </p:nvSpPr>
        <p:spPr>
          <a:xfrm>
            <a:off x="914400" y="3303432"/>
            <a:ext cx="7315200" cy="1825096"/>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“is the number 666 really connected to the modern technology and world systems?”</a:t>
            </a:r>
            <a:endParaRPr lang="en-TZ" dirty="0"/>
          </a:p>
        </p:txBody>
      </p:sp>
    </p:spTree>
    <p:extLst>
      <p:ext uri="{BB962C8B-B14F-4D97-AF65-F5344CB8AC3E}">
        <p14:creationId xmlns:p14="http://schemas.microsoft.com/office/powerpoint/2010/main" val="13614034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number 666 in Revelation</a:t>
            </a:r>
          </a:p>
        </p:txBody>
      </p:sp>
      <p:sp>
        <p:nvSpPr>
          <p:cNvPr id="3" name="Content Placeholder 2"/>
          <p:cNvSpPr>
            <a:spLocks noGrp="1"/>
          </p:cNvSpPr>
          <p:nvPr>
            <p:ph idx="1"/>
          </p:nvPr>
        </p:nvSpPr>
        <p:spPr/>
        <p:txBody>
          <a:bodyPr>
            <a:normAutofit/>
          </a:bodyPr>
          <a:lstStyle/>
          <a:p>
            <a:pPr marL="0" indent="0">
              <a:buNone/>
            </a:pPr>
            <a:r>
              <a:rPr lang="en-US" dirty="0"/>
              <a:t>REVELATION 13:16-18</a:t>
            </a:r>
            <a:endParaRPr dirty="0"/>
          </a:p>
          <a:p>
            <a:pPr marL="0" indent="0" algn="ctr">
              <a:buNone/>
            </a:pPr>
            <a:r>
              <a:rPr lang="en-US" dirty="0"/>
              <a:t>“And he </a:t>
            </a:r>
            <a:r>
              <a:rPr lang="en-US" dirty="0" err="1"/>
              <a:t>causeth</a:t>
            </a:r>
            <a:r>
              <a:rPr lang="en-US" dirty="0"/>
              <a:t> all, both small and great, rich and poor, free and bond, to receive a mark in their right hand, or in their foreheads: and that no man might buy or sell, save he that had the mark, or the name of the beast, or the number of his name. Here is wisdom. Let him that hath understanding count the number of the beast: for it is the number of a man; and his number is </a:t>
            </a:r>
            <a:r>
              <a:rPr lang="en-US" b="1" u="sng" dirty="0"/>
              <a:t>six hundred threescore and six.”</a:t>
            </a:r>
            <a:endParaRPr b="1" u="sng" dirty="0"/>
          </a:p>
          <a:p>
            <a:pPr marL="0" indent="0">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74B5F-F305-48D3-87F1-ACB73F0A11C9}"/>
              </a:ext>
            </a:extLst>
          </p:cNvPr>
          <p:cNvSpPr>
            <a:spLocks noGrp="1"/>
          </p:cNvSpPr>
          <p:nvPr>
            <p:ph idx="1"/>
          </p:nvPr>
        </p:nvSpPr>
        <p:spPr>
          <a:xfrm>
            <a:off x="594360" y="1721949"/>
            <a:ext cx="7955280" cy="4069080"/>
          </a:xfrm>
        </p:spPr>
        <p:txBody>
          <a:bodyPr/>
          <a:lstStyle/>
          <a:p>
            <a:r>
              <a:rPr lang="en-US" dirty="0"/>
              <a:t>The verse also says:</a:t>
            </a:r>
          </a:p>
          <a:p>
            <a:endParaRPr lang="en-US" dirty="0"/>
          </a:p>
          <a:p>
            <a:r>
              <a:rPr lang="en-US" dirty="0"/>
              <a:t>“Let him that hath understanding count the number…”</a:t>
            </a:r>
          </a:p>
          <a:p>
            <a:endParaRPr lang="en-US" dirty="0"/>
          </a:p>
          <a:p>
            <a:r>
              <a:rPr lang="en-US" dirty="0"/>
              <a:t>This suggests the number was meant to be calculated or decoded by people living at that time also present time.</a:t>
            </a:r>
          </a:p>
          <a:p>
            <a:pPr marL="0" indent="0">
              <a:buNone/>
            </a:pPr>
            <a:endParaRPr lang="en-TZ" dirty="0"/>
          </a:p>
        </p:txBody>
      </p:sp>
    </p:spTree>
    <p:extLst>
      <p:ext uri="{BB962C8B-B14F-4D97-AF65-F5344CB8AC3E}">
        <p14:creationId xmlns:p14="http://schemas.microsoft.com/office/powerpoint/2010/main" val="471102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Ancient number-letter system (Gematria)</a:t>
            </a:r>
          </a:p>
        </p:txBody>
      </p:sp>
      <p:sp>
        <p:nvSpPr>
          <p:cNvPr id="3" name="Content Placeholder 2"/>
          <p:cNvSpPr>
            <a:spLocks noGrp="1"/>
          </p:cNvSpPr>
          <p:nvPr>
            <p:ph idx="1"/>
          </p:nvPr>
        </p:nvSpPr>
        <p:spPr/>
        <p:txBody>
          <a:bodyPr>
            <a:normAutofit fontScale="70000" lnSpcReduction="20000"/>
          </a:bodyPr>
          <a:lstStyle/>
          <a:p>
            <a:pPr marL="0" indent="0">
              <a:buNone/>
            </a:pPr>
            <a:endParaRPr dirty="0"/>
          </a:p>
          <a:p>
            <a:r>
              <a:rPr dirty="0"/>
              <a:t>In the ancient world, letters often had numerical values. This system is called Gematria.</a:t>
            </a:r>
          </a:p>
          <a:p>
            <a:endParaRPr dirty="0"/>
          </a:p>
          <a:p>
            <a:r>
              <a:rPr dirty="0"/>
              <a:t>People could add the numbers of letters in a name to get a total number.</a:t>
            </a:r>
          </a:p>
          <a:p>
            <a:endParaRPr dirty="0"/>
          </a:p>
          <a:p>
            <a:r>
              <a:rPr dirty="0"/>
              <a:t>Many historians think the number 666 referred to a Roman emperor:</a:t>
            </a:r>
          </a:p>
          <a:p>
            <a:endParaRPr dirty="0"/>
          </a:p>
          <a:p>
            <a:r>
              <a:rPr dirty="0"/>
              <a:t>👉 Nero</a:t>
            </a:r>
          </a:p>
          <a:p>
            <a:endParaRPr dirty="0"/>
          </a:p>
          <a:p>
            <a:r>
              <a:rPr dirty="0"/>
              <a:t>When his name “Nero Caesar” is written in Hebrew letters and the numbers are added together, it equals 666.</a:t>
            </a:r>
          </a:p>
          <a:p>
            <a:endParaRPr dirty="0"/>
          </a:p>
          <a:p>
            <a:r>
              <a:rPr dirty="0"/>
              <a:t>Early Christians were suffering persecution under Roman rule, so</a:t>
            </a:r>
            <a:r>
              <a:rPr lang="en-US" dirty="0"/>
              <a:t> some people think</a:t>
            </a:r>
            <a:r>
              <a:rPr dirty="0"/>
              <a:t> the writer of Revelation may have used symbolic language to refer to that power without saying the name directly.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1000"/>
                                        <p:tgtEl>
                                          <p:spTgt spid="3">
                                            <p:txEl>
                                              <p:pRg st="9" end="9"/>
                                            </p:txEl>
                                          </p:spTgt>
                                        </p:tgtEl>
                                      </p:cBhvr>
                                    </p:animEffect>
                                    <p:anim calcmode="lin" valueType="num">
                                      <p:cBhvr>
                                        <p:cTn id="3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1000"/>
                                        <p:tgtEl>
                                          <p:spTgt spid="3">
                                            <p:txEl>
                                              <p:pRg st="11" end="11"/>
                                            </p:txEl>
                                          </p:spTgt>
                                        </p:tgtEl>
                                      </p:cBhvr>
                                    </p:animEffect>
                                    <p:anim calcmode="lin" valueType="num">
                                      <p:cBhvr>
                                        <p:cTn id="4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Symbolic meaning</a:t>
            </a:r>
          </a:p>
        </p:txBody>
      </p:sp>
      <p:sp>
        <p:nvSpPr>
          <p:cNvPr id="3" name="Content Placeholder 2"/>
          <p:cNvSpPr>
            <a:spLocks noGrp="1"/>
          </p:cNvSpPr>
          <p:nvPr>
            <p:ph idx="1"/>
          </p:nvPr>
        </p:nvSpPr>
        <p:spPr/>
        <p:txBody>
          <a:bodyPr>
            <a:normAutofit/>
          </a:bodyPr>
          <a:lstStyle/>
          <a:p>
            <a:pPr marL="0" indent="0">
              <a:buNone/>
            </a:pPr>
            <a:endParaRPr dirty="0"/>
          </a:p>
          <a:p>
            <a:r>
              <a:rPr dirty="0"/>
              <a:t>Some scholars also say 666 may symbolize imperfection or human rebellion, because:</a:t>
            </a:r>
          </a:p>
          <a:p>
            <a:endParaRPr dirty="0"/>
          </a:p>
          <a:p>
            <a:r>
              <a:rPr dirty="0"/>
              <a:t>In the Bible, 7 often represents completeness or perfection.</a:t>
            </a:r>
          </a:p>
          <a:p>
            <a:endParaRPr dirty="0"/>
          </a:p>
          <a:p>
            <a:r>
              <a:rPr dirty="0"/>
              <a:t>6 falls short of 7.</a:t>
            </a:r>
          </a:p>
          <a:p>
            <a:endParaRPr dirty="0"/>
          </a:p>
          <a:p>
            <a:r>
              <a:rPr dirty="0"/>
              <a:t>666 could mean extreme imperfection or evil power.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p:cTn id="21"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 calcmode="lin" valueType="num">
                                      <p:cBhvr>
                                        <p:cTn id="2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many modern claims appear</a:t>
            </a:r>
          </a:p>
        </p:txBody>
      </p:sp>
      <p:sp>
        <p:nvSpPr>
          <p:cNvPr id="3" name="Content Placeholder 2"/>
          <p:cNvSpPr>
            <a:spLocks noGrp="1"/>
          </p:cNvSpPr>
          <p:nvPr>
            <p:ph idx="1"/>
          </p:nvPr>
        </p:nvSpPr>
        <p:spPr/>
        <p:txBody>
          <a:bodyPr>
            <a:normAutofit fontScale="92500" lnSpcReduction="10000"/>
          </a:bodyPr>
          <a:lstStyle/>
          <a:p>
            <a:pPr marL="0" indent="0">
              <a:buNone/>
            </a:pPr>
            <a:endParaRPr dirty="0"/>
          </a:p>
          <a:p>
            <a:r>
              <a:rPr dirty="0"/>
              <a:t>Throughout history, people have tried to apply 666 to many things:</a:t>
            </a:r>
          </a:p>
          <a:p>
            <a:endParaRPr dirty="0"/>
          </a:p>
          <a:p>
            <a:r>
              <a:rPr lang="en-US" dirty="0"/>
              <a:t>P</a:t>
            </a:r>
            <a:r>
              <a:rPr dirty="0"/>
              <a:t>olitical leaders</a:t>
            </a:r>
          </a:p>
          <a:p>
            <a:r>
              <a:rPr lang="en-US" dirty="0"/>
              <a:t>T</a:t>
            </a:r>
            <a:r>
              <a:rPr dirty="0"/>
              <a:t>echnology</a:t>
            </a:r>
          </a:p>
          <a:p>
            <a:r>
              <a:rPr lang="en-US" dirty="0"/>
              <a:t>C</a:t>
            </a:r>
            <a:r>
              <a:rPr dirty="0"/>
              <a:t>ompanies</a:t>
            </a:r>
          </a:p>
          <a:p>
            <a:r>
              <a:rPr lang="en-US" dirty="0"/>
              <a:t>W</a:t>
            </a:r>
            <a:r>
              <a:rPr dirty="0"/>
              <a:t>orld events</a:t>
            </a:r>
          </a:p>
          <a:p>
            <a:endParaRPr dirty="0"/>
          </a:p>
          <a:p>
            <a:r>
              <a:rPr dirty="0"/>
              <a:t>But most of these interpretations come from speculation, not clear biblical evidence.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biblical idea</a:t>
            </a:r>
          </a:p>
        </p:txBody>
      </p:sp>
      <p:sp>
        <p:nvSpPr>
          <p:cNvPr id="3" name="Content Placeholder 2"/>
          <p:cNvSpPr>
            <a:spLocks noGrp="1"/>
          </p:cNvSpPr>
          <p:nvPr>
            <p:ph idx="1"/>
          </p:nvPr>
        </p:nvSpPr>
        <p:spPr/>
        <p:txBody>
          <a:bodyPr/>
          <a:lstStyle/>
          <a:p>
            <a:pPr marL="0" indent="0">
              <a:buNone/>
            </a:pPr>
            <a:endParaRPr dirty="0"/>
          </a:p>
          <a:p>
            <a:r>
              <a:rPr dirty="0"/>
              <a:t>The main message of Revelation is not about secret math codes—it’s about remaining faithful to God during times of pressure or persecution.</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xEl>
                                              <p:pRg st="1" end="1"/>
                                            </p:txEl>
                                          </p:spTgt>
                                        </p:tgtEl>
                                        <p:attrNameLst>
                                          <p:attrName>r</p:attrName>
                                        </p:attrNameLst>
                                      </p:cBhvr>
                                    </p:animRot>
                                    <p:animRot by="-240000">
                                      <p:cBhvr>
                                        <p:cTn id="7" dur="200" fill="hold">
                                          <p:stCondLst>
                                            <p:cond delay="200"/>
                                          </p:stCondLst>
                                        </p:cTn>
                                        <p:tgtEl>
                                          <p:spTgt spid="3">
                                            <p:txEl>
                                              <p:pRg st="1" end="1"/>
                                            </p:txEl>
                                          </p:spTgt>
                                        </p:tgtEl>
                                        <p:attrNameLst>
                                          <p:attrName>r</p:attrName>
                                        </p:attrNameLst>
                                      </p:cBhvr>
                                    </p:animRot>
                                    <p:animRot by="240000">
                                      <p:cBhvr>
                                        <p:cTn id="8" dur="200" fill="hold">
                                          <p:stCondLst>
                                            <p:cond delay="400"/>
                                          </p:stCondLst>
                                        </p:cTn>
                                        <p:tgtEl>
                                          <p:spTgt spid="3">
                                            <p:txEl>
                                              <p:pRg st="1" end="1"/>
                                            </p:txEl>
                                          </p:spTgt>
                                        </p:tgtEl>
                                        <p:attrNameLst>
                                          <p:attrName>r</p:attrName>
                                        </p:attrNameLst>
                                      </p:cBhvr>
                                    </p:animRot>
                                    <p:animRot by="-240000">
                                      <p:cBhvr>
                                        <p:cTn id="9" dur="200" fill="hold">
                                          <p:stCondLst>
                                            <p:cond delay="600"/>
                                          </p:stCondLst>
                                        </p:cTn>
                                        <p:tgtEl>
                                          <p:spTgt spid="3">
                                            <p:txEl>
                                              <p:pRg st="1" end="1"/>
                                            </p:txEl>
                                          </p:spTgt>
                                        </p:tgtEl>
                                        <p:attrNameLst>
                                          <p:attrName>r</p:attrName>
                                        </p:attrNameLst>
                                      </p:cBhvr>
                                    </p:animRot>
                                    <p:animRot by="120000">
                                      <p:cBhvr>
                                        <p:cTn id="10" dur="200" fill="hold">
                                          <p:stCondLst>
                                            <p:cond delay="800"/>
                                          </p:stCondLst>
                                        </p:cTn>
                                        <p:tgtEl>
                                          <p:spTgt spid="3">
                                            <p:txEl>
                                              <p:pRg st="1" end="1"/>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The Mark of the Beast in Revelation</a:t>
            </a:r>
          </a:p>
        </p:txBody>
      </p:sp>
      <p:sp>
        <p:nvSpPr>
          <p:cNvPr id="3" name="Content Placeholder 2"/>
          <p:cNvSpPr>
            <a:spLocks noGrp="1"/>
          </p:cNvSpPr>
          <p:nvPr>
            <p:ph idx="1"/>
          </p:nvPr>
        </p:nvSpPr>
        <p:spPr/>
        <p:txBody>
          <a:bodyPr>
            <a:normAutofit lnSpcReduction="10000"/>
          </a:bodyPr>
          <a:lstStyle/>
          <a:p>
            <a:pPr marL="0" indent="0">
              <a:buNone/>
            </a:pPr>
            <a:endParaRPr dirty="0"/>
          </a:p>
          <a:p>
            <a:r>
              <a:rPr dirty="0"/>
              <a:t>In Book of Revelation 13:16–17, it says people receive a mark:</a:t>
            </a:r>
          </a:p>
          <a:p>
            <a:endParaRPr dirty="0"/>
          </a:p>
          <a:p>
            <a:r>
              <a:rPr dirty="0"/>
              <a:t>on their right hand</a:t>
            </a:r>
          </a:p>
          <a:p>
            <a:r>
              <a:rPr dirty="0"/>
              <a:t>or on their forehead</a:t>
            </a:r>
          </a:p>
          <a:p>
            <a:endParaRPr dirty="0"/>
          </a:p>
          <a:p>
            <a:r>
              <a:rPr dirty="0"/>
              <a:t>This mark is connected with loyalty or allegiance to the beast.</a:t>
            </a:r>
          </a:p>
          <a:p>
            <a:endParaRPr dirty="0"/>
          </a:p>
          <a:p>
            <a:r>
              <a:rPr dirty="0"/>
              <a:t>But this language did not start in Revelation.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Old Testament background</a:t>
            </a:r>
          </a:p>
        </p:txBody>
      </p:sp>
      <p:sp>
        <p:nvSpPr>
          <p:cNvPr id="3" name="Content Placeholder 2"/>
          <p:cNvSpPr>
            <a:spLocks noGrp="1"/>
          </p:cNvSpPr>
          <p:nvPr>
            <p:ph idx="1"/>
          </p:nvPr>
        </p:nvSpPr>
        <p:spPr/>
        <p:txBody>
          <a:bodyPr>
            <a:normAutofit fontScale="70000" lnSpcReduction="20000"/>
          </a:bodyPr>
          <a:lstStyle/>
          <a:p>
            <a:pPr marL="0" indent="0">
              <a:buNone/>
            </a:pPr>
            <a:endParaRPr dirty="0"/>
          </a:p>
          <a:p>
            <a:r>
              <a:rPr dirty="0"/>
              <a:t>Long before Revelation was written, God gave Israel a similar idea.</a:t>
            </a:r>
          </a:p>
          <a:p>
            <a:endParaRPr dirty="0"/>
          </a:p>
          <a:p>
            <a:r>
              <a:rPr dirty="0"/>
              <a:t>In Book of Deuteronomy 6:6–8 it says God’s commandments should be:</a:t>
            </a:r>
          </a:p>
          <a:p>
            <a:endParaRPr dirty="0"/>
          </a:p>
          <a:p>
            <a:r>
              <a:rPr dirty="0"/>
              <a:t>on your hand</a:t>
            </a:r>
          </a:p>
          <a:p>
            <a:r>
              <a:rPr dirty="0"/>
              <a:t>on your forehead</a:t>
            </a:r>
          </a:p>
          <a:p>
            <a:endParaRPr dirty="0"/>
          </a:p>
          <a:p>
            <a:r>
              <a:rPr dirty="0"/>
              <a:t>This was a symbolic way of saying:</a:t>
            </a:r>
          </a:p>
          <a:p>
            <a:endParaRPr dirty="0"/>
          </a:p>
          <a:p>
            <a:r>
              <a:rPr dirty="0"/>
              <a:t>Forehead → what you believe / your mind</a:t>
            </a:r>
          </a:p>
          <a:p>
            <a:r>
              <a:rPr dirty="0"/>
              <a:t>Hand → what you do / your actions</a:t>
            </a:r>
          </a:p>
          <a:p>
            <a:endParaRPr dirty="0"/>
          </a:p>
          <a:p>
            <a:r>
              <a:rPr dirty="0"/>
              <a:t>So it meant loving God with both belief and behavior.</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opposite marks</a:t>
            </a:r>
          </a:p>
        </p:txBody>
      </p:sp>
      <p:sp>
        <p:nvSpPr>
          <p:cNvPr id="3" name="Content Placeholder 2"/>
          <p:cNvSpPr>
            <a:spLocks noGrp="1"/>
          </p:cNvSpPr>
          <p:nvPr>
            <p:ph idx="1"/>
          </p:nvPr>
        </p:nvSpPr>
        <p:spPr/>
        <p:txBody>
          <a:bodyPr>
            <a:normAutofit/>
          </a:bodyPr>
          <a:lstStyle/>
          <a:p>
            <a:pPr marL="0" indent="0">
              <a:buNone/>
            </a:pPr>
            <a:endParaRPr dirty="0"/>
          </a:p>
          <a:p>
            <a:r>
              <a:rPr dirty="0"/>
              <a:t>Many Bible scholars say Revelation is showing two loyalties:</a:t>
            </a:r>
          </a:p>
          <a:p>
            <a:endParaRPr dirty="0"/>
          </a:p>
          <a:p>
            <a:r>
              <a:rPr dirty="0"/>
              <a:t>Faithfulness to God → God’s seal</a:t>
            </a:r>
          </a:p>
          <a:p>
            <a:r>
              <a:rPr dirty="0"/>
              <a:t>Loyalty to the beast → Mark of the beast</a:t>
            </a:r>
          </a:p>
          <a:p>
            <a:endParaRPr dirty="0"/>
          </a:p>
          <a:p>
            <a:r>
              <a:rPr dirty="0"/>
              <a:t>Revelation even talks about God’s people having a seal on their foreheads in Revelation 7.</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Symbolic message</a:t>
            </a:r>
          </a:p>
        </p:txBody>
      </p:sp>
      <p:sp>
        <p:nvSpPr>
          <p:cNvPr id="3" name="Content Placeholder 2"/>
          <p:cNvSpPr>
            <a:spLocks noGrp="1"/>
          </p:cNvSpPr>
          <p:nvPr>
            <p:ph idx="1"/>
          </p:nvPr>
        </p:nvSpPr>
        <p:spPr/>
        <p:txBody>
          <a:bodyPr>
            <a:normAutofit/>
          </a:bodyPr>
          <a:lstStyle/>
          <a:p>
            <a:pPr marL="0" indent="0">
              <a:buNone/>
            </a:pPr>
            <a:endParaRPr dirty="0"/>
          </a:p>
          <a:p>
            <a:r>
              <a:rPr dirty="0"/>
              <a:t>The book uses strong imagery to teach a spiritual lesson:</a:t>
            </a:r>
          </a:p>
          <a:p>
            <a:endParaRPr dirty="0"/>
          </a:p>
          <a:p>
            <a:r>
              <a:rPr dirty="0"/>
              <a:t>Who controls your thinking (forehead)?</a:t>
            </a:r>
          </a:p>
          <a:p>
            <a:r>
              <a:rPr dirty="0"/>
              <a:t>Who controls your actions (hand)?</a:t>
            </a:r>
          </a:p>
          <a:p>
            <a:endParaRPr dirty="0"/>
          </a:p>
          <a:p>
            <a:r>
              <a:rPr dirty="0"/>
              <a:t>It’s about allegiance, not necessarily a visible tattoo or barcode.</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matters</a:t>
            </a:r>
          </a:p>
        </p:txBody>
      </p:sp>
      <p:sp>
        <p:nvSpPr>
          <p:cNvPr id="3" name="Content Placeholder 2"/>
          <p:cNvSpPr>
            <a:spLocks noGrp="1"/>
          </p:cNvSpPr>
          <p:nvPr>
            <p:ph idx="1"/>
          </p:nvPr>
        </p:nvSpPr>
        <p:spPr/>
        <p:txBody>
          <a:bodyPr>
            <a:normAutofit/>
          </a:bodyPr>
          <a:lstStyle/>
          <a:p>
            <a:pPr marL="0" indent="0">
              <a:buNone/>
            </a:pPr>
            <a:endParaRPr dirty="0"/>
          </a:p>
          <a:p>
            <a:r>
              <a:rPr dirty="0"/>
              <a:t>The central message of Revelation is encouraging believers to:</a:t>
            </a:r>
          </a:p>
          <a:p>
            <a:endParaRPr dirty="0"/>
          </a:p>
          <a:p>
            <a:r>
              <a:rPr lang="en-US" dirty="0"/>
              <a:t>S</a:t>
            </a:r>
            <a:r>
              <a:rPr dirty="0"/>
              <a:t>tay faithful</a:t>
            </a:r>
          </a:p>
          <a:p>
            <a:r>
              <a:rPr lang="en-US" dirty="0"/>
              <a:t>R</a:t>
            </a:r>
            <a:r>
              <a:rPr dirty="0"/>
              <a:t>esist systems of injustice</a:t>
            </a:r>
          </a:p>
          <a:p>
            <a:r>
              <a:rPr lang="en-US" dirty="0"/>
              <a:t>R</a:t>
            </a:r>
            <a:r>
              <a:rPr dirty="0"/>
              <a:t>emain loyal to God even when pressured by society or political power.</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Interesting fact</a:t>
            </a:r>
          </a:p>
        </p:txBody>
      </p:sp>
      <p:sp>
        <p:nvSpPr>
          <p:cNvPr id="3" name="Content Placeholder 2"/>
          <p:cNvSpPr>
            <a:spLocks noGrp="1"/>
          </p:cNvSpPr>
          <p:nvPr>
            <p:ph idx="1"/>
          </p:nvPr>
        </p:nvSpPr>
        <p:spPr/>
        <p:txBody>
          <a:bodyPr/>
          <a:lstStyle/>
          <a:p>
            <a:pPr marL="0" indent="0">
              <a:buNone/>
            </a:pPr>
            <a:endParaRPr dirty="0"/>
          </a:p>
          <a:p>
            <a:r>
              <a:rPr dirty="0"/>
              <a:t>The number 666 is sometimes called the </a:t>
            </a:r>
            <a:r>
              <a:rPr b="1" u="sng" dirty="0"/>
              <a:t>“number of a man”</a:t>
            </a:r>
            <a:r>
              <a:rPr dirty="0"/>
              <a:t> because it represents human systems trying to replace God’s authority.</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idea (Conclusion)</a:t>
            </a:r>
          </a:p>
        </p:txBody>
      </p:sp>
      <p:sp>
        <p:nvSpPr>
          <p:cNvPr id="3" name="Content Placeholder 2"/>
          <p:cNvSpPr>
            <a:spLocks noGrp="1"/>
          </p:cNvSpPr>
          <p:nvPr>
            <p:ph idx="1"/>
          </p:nvPr>
        </p:nvSpPr>
        <p:spPr/>
        <p:txBody>
          <a:bodyPr/>
          <a:lstStyle/>
          <a:p>
            <a:pPr marL="0" indent="0">
              <a:buNone/>
            </a:pPr>
            <a:endParaRPr dirty="0"/>
          </a:p>
          <a:p>
            <a:r>
              <a:rPr dirty="0"/>
              <a:t>Humans are very good at finding patterns, even when the patterns are accidental. Just because numbers can be rearranged to look like 666 doesn’t mean there is a real connection.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120</TotalTime>
  <Words>739</Words>
  <Application>Microsoft Office PowerPoint</Application>
  <PresentationFormat>On-screen Show (4:3)</PresentationFormat>
  <Paragraphs>98</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Vapor Trail</vt:lpstr>
      <vt:lpstr>                                                             “is the number 666 really connected to the modern technology and world systems?”</vt:lpstr>
      <vt:lpstr>The number 666 in Revelation</vt:lpstr>
      <vt:lpstr>PowerPoint Presentation</vt:lpstr>
      <vt:lpstr>Ancient number-letter system (Gematria)</vt:lpstr>
      <vt:lpstr>Symbolic meaning</vt:lpstr>
      <vt:lpstr>Why many modern claims appear</vt:lpstr>
      <vt:lpstr>Important biblical idea</vt:lpstr>
      <vt:lpstr>The Mark of the Beast in Revelation</vt:lpstr>
      <vt:lpstr>The Old Testament background</vt:lpstr>
      <vt:lpstr>Two opposite marks</vt:lpstr>
      <vt:lpstr>Symbolic message</vt:lpstr>
      <vt:lpstr>Why this matters</vt:lpstr>
      <vt:lpstr>Interesting fact</vt:lpstr>
      <vt:lpstr>Key idea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“is the number 666 really connected to the modern technology and world systems?”</dc:title>
  <dc:subject/>
  <dc:creator/>
  <cp:keywords/>
  <dc:description>generated using python-pptx</dc:description>
  <cp:lastModifiedBy>DELL</cp:lastModifiedBy>
  <cp:revision>9</cp:revision>
  <dcterms:created xsi:type="dcterms:W3CDTF">2013-01-27T09:14:16Z</dcterms:created>
  <dcterms:modified xsi:type="dcterms:W3CDTF">2026-03-12T12:42:43Z</dcterms:modified>
  <cp:category/>
</cp:coreProperties>
</file>